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73" r:id="rId6"/>
    <p:sldId id="274" r:id="rId7"/>
    <p:sldId id="275" r:id="rId8"/>
    <p:sldId id="276" r:id="rId9"/>
    <p:sldId id="288" r:id="rId10"/>
    <p:sldId id="277" r:id="rId11"/>
    <p:sldId id="266" r:id="rId12"/>
    <p:sldId id="284" r:id="rId13"/>
    <p:sldId id="287" r:id="rId14"/>
    <p:sldId id="265" r:id="rId15"/>
    <p:sldId id="283" r:id="rId16"/>
    <p:sldId id="264" r:id="rId17"/>
    <p:sldId id="267" r:id="rId18"/>
    <p:sldId id="270" r:id="rId1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7" autoAdjust="0"/>
    <p:restoredTop sz="93584" autoAdjust="0"/>
  </p:normalViewPr>
  <p:slideViewPr>
    <p:cSldViewPr snapToGrid="0">
      <p:cViewPr varScale="1">
        <p:scale>
          <a:sx n="80" d="100"/>
          <a:sy n="80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184CF-6386-4335-9FA2-8DC64AABE7F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4F552-16CA-4291-B7E2-5B71F6608AD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DEE5D00-CD2A-41CC-85D3-713F234E79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4ABD79B-0200-47C5-BD53-1D0900C102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BD79B-0200-47C5-BD53-1D0900C1028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E95A-76AD-4562-9BDD-AA40B575DCD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822586" y="-75605"/>
            <a:ext cx="133081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VIIT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1026" name="Picture 2" descr="http://www.viit.ac.in/images/viitlogo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6944"/>
            <a:ext cx="762000" cy="6667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9067800" y="74213"/>
            <a:ext cx="2736647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Department of Electronics and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Telecommunications</a:t>
            </a:r>
            <a:endParaRPr lang="en-US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1599-19C2-422D-8E99-48A3A80A780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711563" y="452665"/>
            <a:ext cx="133081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VIIT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8" name="Picture 2" descr="http://www.viit.ac.in/images/viitlogo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377" y="566062"/>
            <a:ext cx="762000" cy="7721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8804377" y="644353"/>
            <a:ext cx="2549423" cy="6155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 Narrow" panose="020B0606020202030204" pitchFamily="34" charset="0"/>
              </a:rPr>
              <a:t>Department of Electronics and Telecommunications</a:t>
            </a:r>
            <a:endParaRPr lang="en-US" sz="17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1634-6EDF-4126-B6BD-F0314E3A54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DCF9-3042-4925-A639-CD49D2B7E76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72B5-3D87-4BBE-A24C-F0FBEFA0EA7E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9372-D806-46A5-9FFA-1E4974927293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A518-7DF4-45AB-81AD-40A8B81A746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71A7-8EE0-4A4F-AED0-8A709439DA2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4C51-9BB0-41F1-8EB2-DC6D7DEA563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2744-7F3C-4C95-A4A4-30757272E7E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0566-1B15-427E-A611-E0946A3390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D1CF0-3A4C-4427-A3BC-0D20F01CD29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2C4E-F76E-4530-B441-125E49167A3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6248" y="4770223"/>
            <a:ext cx="7514053" cy="1501365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sz="2300" dirty="0"/>
              <a:t>Guided by</a:t>
            </a:r>
            <a:endParaRPr lang="en-US" sz="2300" dirty="0"/>
          </a:p>
          <a:p>
            <a:r>
              <a:rPr lang="en-US" sz="2300" dirty="0" err="1"/>
              <a:t>Dr.Yogesh</a:t>
            </a:r>
            <a:r>
              <a:rPr lang="en-US" sz="2300" dirty="0"/>
              <a:t> </a:t>
            </a:r>
            <a:r>
              <a:rPr lang="en-IN" dirty="0" err="1"/>
              <a:t>Dandawate</a:t>
            </a:r>
            <a:r>
              <a:rPr lang="en-IN" dirty="0"/>
              <a:t> Sir</a:t>
            </a:r>
            <a:endParaRPr lang="en-US" sz="3100" dirty="0"/>
          </a:p>
          <a:p>
            <a:r>
              <a:rPr lang="en-US" sz="2300" dirty="0"/>
              <a:t>Department of Electronics and Telecommunications</a:t>
            </a:r>
            <a:endParaRPr lang="en-US" sz="2300" dirty="0"/>
          </a:p>
          <a:p>
            <a:r>
              <a:rPr lang="en-US" sz="2300" dirty="0" err="1"/>
              <a:t>Vishwakarma</a:t>
            </a:r>
            <a:r>
              <a:rPr lang="en-US" sz="2300" dirty="0"/>
              <a:t> Institute of Information </a:t>
            </a:r>
            <a:r>
              <a:rPr lang="en-US" sz="2300" dirty="0" err="1"/>
              <a:t>Technology,Pune</a:t>
            </a:r>
            <a:r>
              <a:rPr lang="en-US" sz="2600" dirty="0"/>
              <a:t> </a:t>
            </a:r>
            <a:endParaRPr lang="en-US" sz="26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38800" y="292330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02658" y="4192172"/>
            <a:ext cx="232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84061" y="2406808"/>
          <a:ext cx="8823878" cy="2379458"/>
        </p:xfrm>
        <a:graphic>
          <a:graphicData uri="http://schemas.openxmlformats.org/drawingml/2006/table">
            <a:tbl>
              <a:tblPr/>
              <a:tblGrid>
                <a:gridCol w="1514416"/>
                <a:gridCol w="1514416"/>
                <a:gridCol w="1339338"/>
                <a:gridCol w="4455708"/>
              </a:tblGrid>
              <a:tr h="4726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Roll No.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GR. No. 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Division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Name of Student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  <a:tr h="472683"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411005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22111077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Prathamesh Bhaskar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683"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400">
                          <a:effectLst/>
                        </a:rPr>
                        <a:t>411047</a:t>
                      </a:r>
                      <a:endParaRPr lang="en-IN" sz="140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22111077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>
                          <a:effectLst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Prajwal Rahate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726"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312013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22110878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Yash Patil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683"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312021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22111081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IN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algn="ctr" rtl="0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Roshan Jadhav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anchor="ctr">
                    <a:lnL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2010092" y="2701231"/>
            <a:ext cx="13264663" cy="57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282054" y="1454028"/>
            <a:ext cx="6241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Text to Image Conversion Using Stable Diffusion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363678" y="1084696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Presentation on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174486" y="1779474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6581593" y="0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922486" cy="897618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Introduction</a:t>
            </a:r>
            <a:endParaRPr lang="en-US" dirty="0"/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Motivation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Literature Survey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Objectives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Methodology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Dataset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Implementation 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Different Phases of Implementation (if any)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Results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Conclusions</a:t>
            </a:r>
            <a:endParaRPr lang="en-IE" dirty="0">
              <a:solidFill>
                <a:srgbClr val="000000"/>
              </a:solidFill>
            </a:endParaRP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References</a:t>
            </a:r>
            <a:endParaRPr lang="en-IN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71750" y="430062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551543" y="101600"/>
            <a:ext cx="4861733" cy="111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 panose="02040502050405020303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248265" y="1253330"/>
            <a:ext cx="11688096" cy="510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500" b="1" dirty="0">
                <a:cs typeface="Times New Roman" panose="02020603050405020304" pitchFamily="18" charset="0"/>
              </a:rPr>
              <a:t>Overview:</a:t>
            </a:r>
            <a:br>
              <a:rPr lang="en-US" sz="2500" dirty="0">
                <a:cs typeface="Times New Roman" panose="02020603050405020304" pitchFamily="18" charset="0"/>
              </a:rPr>
            </a:br>
            <a:r>
              <a:rPr lang="en-US" sz="2500" dirty="0">
                <a:cs typeface="Times New Roman" panose="02020603050405020304" pitchFamily="18" charset="0"/>
              </a:rPr>
              <a:t>project explores </a:t>
            </a:r>
            <a:r>
              <a:rPr lang="en-US" sz="2500" b="1" dirty="0">
                <a:cs typeface="Times New Roman" panose="02020603050405020304" pitchFamily="18" charset="0"/>
              </a:rPr>
              <a:t>Stable Diffusion</a:t>
            </a:r>
            <a:r>
              <a:rPr lang="en-US" sz="2500" dirty="0">
                <a:cs typeface="Times New Roman" panose="02020603050405020304" pitchFamily="18" charset="0"/>
              </a:rPr>
              <a:t>, a state-of-the-art </a:t>
            </a:r>
            <a:r>
              <a:rPr lang="en-US" sz="2500" b="1" dirty="0">
                <a:cs typeface="Times New Roman" panose="02020603050405020304" pitchFamily="18" charset="0"/>
              </a:rPr>
              <a:t>text-to-image model</a:t>
            </a:r>
            <a:r>
              <a:rPr lang="en-US" sz="2500" dirty="0">
                <a:cs typeface="Times New Roman" panose="02020603050405020304" pitchFamily="18" charset="0"/>
              </a:rPr>
              <a:t> that generates detailed images from text descriptions. Leveraging deep learning, Stable Diffusion applies latent diffusion techniques to produce high-quality visuals based on specific prompts.</a:t>
            </a:r>
            <a:endParaRPr lang="en-US" sz="2500" dirty="0"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500" b="1" dirty="0">
                <a:cs typeface="Times New Roman" panose="02020603050405020304" pitchFamily="18" charset="0"/>
              </a:rPr>
              <a:t>Text Prompt Input: </a:t>
            </a:r>
            <a:r>
              <a:rPr lang="en-US" sz="2500" dirty="0">
                <a:cs typeface="Times New Roman" panose="02020603050405020304" pitchFamily="18" charset="0"/>
              </a:rPr>
              <a:t>Accepts natural language descriptions to guide image creation.</a:t>
            </a:r>
            <a:endParaRPr lang="en-US" sz="2500" dirty="0"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500" b="1" dirty="0">
                <a:cs typeface="Times New Roman" panose="02020603050405020304" pitchFamily="18" charset="0"/>
              </a:rPr>
              <a:t>Deep Learning Backbone: </a:t>
            </a:r>
            <a:r>
              <a:rPr lang="en-US" sz="2500" dirty="0">
                <a:cs typeface="Times New Roman" panose="02020603050405020304" pitchFamily="18" charset="0"/>
              </a:rPr>
              <a:t>Utilizes latent diffusion models, which compress data in a latent space for efficient and high-quality image generation.</a:t>
            </a:r>
            <a:endParaRPr lang="en-US" sz="2500" dirty="0"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500" dirty="0"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" name="Double Bracket 1"/>
          <p:cNvSpPr/>
          <p:nvPr/>
        </p:nvSpPr>
        <p:spPr>
          <a:xfrm>
            <a:off x="3186881" y="4906297"/>
            <a:ext cx="1612491" cy="914400"/>
          </a:xfrm>
          <a:prstGeom prst="bracketPair">
            <a:avLst>
              <a:gd name="adj" fmla="val 1774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60008" y="5040331"/>
            <a:ext cx="146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 :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1400" dirty="0"/>
              <a:t>sun set image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/>
          <p:cNvSpPr/>
          <p:nvPr/>
        </p:nvSpPr>
        <p:spPr>
          <a:xfrm>
            <a:off x="4803676" y="5304498"/>
            <a:ext cx="609600" cy="108155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413276" y="4852217"/>
            <a:ext cx="1809135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Stable Diffusion</a:t>
            </a:r>
            <a:endParaRPr lang="en-US" dirty="0"/>
          </a:p>
          <a:p>
            <a:pPr algn="ctr"/>
            <a:r>
              <a:rPr lang="en-US" dirty="0"/>
              <a:t>‘Gen AI Model’</a:t>
            </a:r>
            <a:endParaRPr lang="en-US" dirty="0"/>
          </a:p>
        </p:txBody>
      </p:sp>
      <p:sp>
        <p:nvSpPr>
          <p:cNvPr id="7" name="Arrow: Right 6"/>
          <p:cNvSpPr/>
          <p:nvPr/>
        </p:nvSpPr>
        <p:spPr>
          <a:xfrm>
            <a:off x="7231012" y="5309417"/>
            <a:ext cx="609600" cy="108155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l="6647" t="6611" r="9063" b="5493"/>
          <a:stretch>
            <a:fillRect/>
          </a:stretch>
        </p:blipFill>
        <p:spPr>
          <a:xfrm>
            <a:off x="7863744" y="4659554"/>
            <a:ext cx="1349828" cy="11611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71750" y="501651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725714" y="365126"/>
            <a:ext cx="4615543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 panose="02040502050405020303"/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38200" y="1350498"/>
            <a:ext cx="10515600" cy="482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300" b="1" dirty="0">
                <a:cs typeface="Times New Roman" panose="02020603050405020304" pitchFamily="18" charset="0"/>
              </a:rPr>
              <a:t>Bridging Creativity &amp; Technology: </a:t>
            </a:r>
            <a:r>
              <a:rPr lang="en-US" sz="2300" dirty="0">
                <a:cs typeface="Times New Roman" panose="02020603050405020304" pitchFamily="18" charset="0"/>
              </a:rPr>
              <a:t>In a world driven by visuals, there’s a growing demand for high-quality, instantly generated images. This project taps into AI’s potential to democratize creativity, making it accessible to everyone, regardless of artistic skill.</a:t>
            </a:r>
            <a:endParaRPr lang="en-US" sz="2300" dirty="0"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300" dirty="0"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300" b="1" dirty="0">
                <a:cs typeface="Times New Roman" panose="02020603050405020304" pitchFamily="18" charset="0"/>
              </a:rPr>
              <a:t>Social Relevance:</a:t>
            </a:r>
            <a:endParaRPr lang="en-US" sz="2300" b="1" dirty="0"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150" b="1" dirty="0">
                <a:cs typeface="Times New Roman" panose="02020603050405020304" pitchFamily="18" charset="0"/>
              </a:rPr>
              <a:t>Empowering Content Creators:</a:t>
            </a:r>
            <a:r>
              <a:rPr lang="en-US" sz="2150" dirty="0">
                <a:cs typeface="Times New Roman" panose="02020603050405020304" pitchFamily="18" charset="0"/>
              </a:rPr>
              <a:t> Enables artists, writers, and educators to visualize ideas instantly, transforming text descriptions into impactful visuals.</a:t>
            </a:r>
            <a:endParaRPr lang="en-US" sz="2150" dirty="0"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150" b="1" dirty="0">
                <a:cs typeface="Times New Roman" panose="02020603050405020304" pitchFamily="18" charset="0"/>
              </a:rPr>
              <a:t>Supporting Accessibility:</a:t>
            </a:r>
            <a:r>
              <a:rPr lang="en-US" sz="2150" dirty="0">
                <a:cs typeface="Times New Roman" panose="02020603050405020304" pitchFamily="18" charset="0"/>
              </a:rPr>
              <a:t> Offers a way for individuals with limited resources or artistic abilities to create custom visuals, contributing to equal opportunities in media and education.</a:t>
            </a:r>
            <a:endParaRPr lang="en-US" sz="2150" dirty="0"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150" b="1" dirty="0">
                <a:cs typeface="Times New Roman" panose="02020603050405020304" pitchFamily="18" charset="0"/>
              </a:rPr>
              <a:t>Boosting Efficiency:</a:t>
            </a:r>
            <a:r>
              <a:rPr lang="en-US" sz="2150" dirty="0">
                <a:cs typeface="Times New Roman" panose="02020603050405020304" pitchFamily="18" charset="0"/>
              </a:rPr>
              <a:t> Reduces time and costs for industries like </a:t>
            </a:r>
            <a:r>
              <a:rPr lang="en-US" sz="2150" b="1" dirty="0">
                <a:cs typeface="Times New Roman" panose="02020603050405020304" pitchFamily="18" charset="0"/>
              </a:rPr>
              <a:t>advertising, education,</a:t>
            </a:r>
            <a:r>
              <a:rPr lang="en-US" sz="2150" dirty="0">
                <a:cs typeface="Times New Roman" panose="02020603050405020304" pitchFamily="18" charset="0"/>
              </a:rPr>
              <a:t> and </a:t>
            </a:r>
            <a:r>
              <a:rPr lang="en-US" sz="2150" b="1" dirty="0">
                <a:cs typeface="Times New Roman" panose="02020603050405020304" pitchFamily="18" charset="0"/>
              </a:rPr>
              <a:t>content creation</a:t>
            </a:r>
            <a:r>
              <a:rPr lang="en-US" sz="2150" dirty="0">
                <a:cs typeface="Times New Roman" panose="02020603050405020304" pitchFamily="18" charset="0"/>
              </a:rPr>
              <a:t>, making creative processes more efficient and accessible.</a:t>
            </a:r>
            <a:endParaRPr lang="en-US" sz="2150" dirty="0">
              <a:cs typeface="Times New Roman" panose="02020603050405020304" pitchFamily="18" charset="0"/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123" name="Google Shape;12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371750" y="479918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Georgia" panose="02040502050405020303"/>
              <a:buNone/>
            </a:pPr>
            <a:br>
              <a:rPr lang="en-US">
                <a:solidFill>
                  <a:srgbClr val="000000"/>
                </a:solidFill>
              </a:rPr>
            </a:br>
            <a:r>
              <a:rPr lang="en-US" sz="4900">
                <a:solidFill>
                  <a:srgbClr val="000000"/>
                </a:solidFill>
              </a:rPr>
              <a:t>Literature Survey</a:t>
            </a:r>
            <a:br>
              <a:rPr lang="en-US" sz="4900">
                <a:solidFill>
                  <a:srgbClr val="000000"/>
                </a:solidFill>
              </a:rPr>
            </a:br>
            <a:endParaRPr lang="en-US" sz="4900"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838200" y="1378634"/>
            <a:ext cx="10515600" cy="482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PAPER  : Controllable Text-to-Image Generation.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Authors</a:t>
            </a:r>
            <a:r>
              <a:rPr lang="en-US" sz="1800" dirty="0">
                <a:cs typeface="Times New Roman" panose="02020603050405020304" pitchFamily="18" charset="0"/>
              </a:rPr>
              <a:t>: </a:t>
            </a:r>
            <a:r>
              <a:rPr lang="en-US" sz="1800" dirty="0"/>
              <a:t>Bowen Li, </a:t>
            </a:r>
            <a:r>
              <a:rPr lang="en-US" sz="1800" dirty="0" err="1"/>
              <a:t>Xiaojuan</a:t>
            </a:r>
            <a:r>
              <a:rPr lang="en-US" sz="1800" dirty="0"/>
              <a:t> Qi, Thomas </a:t>
            </a:r>
            <a:r>
              <a:rPr lang="en-US" sz="1800" dirty="0" err="1"/>
              <a:t>Lukasiewicz</a:t>
            </a:r>
            <a:r>
              <a:rPr lang="en-US" sz="1800" dirty="0"/>
              <a:t>, Philip H. S. </a:t>
            </a:r>
            <a:r>
              <a:rPr lang="en-US" sz="1800" dirty="0" err="1"/>
              <a:t>Torr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Summary</a:t>
            </a:r>
            <a:r>
              <a:rPr lang="en-US" sz="1800" dirty="0">
                <a:cs typeface="Times New Roman" panose="02020603050405020304" pitchFamily="18" charset="0"/>
              </a:rPr>
              <a:t>: This paper presents a novel diffusion model for generating images based on text prompts. It introduces the latent diffusion technique, which generates images through a sequence of </a:t>
            </a:r>
            <a:r>
              <a:rPr lang="en-US" sz="1800" dirty="0" err="1">
                <a:cs typeface="Times New Roman" panose="02020603050405020304" pitchFamily="18" charset="0"/>
              </a:rPr>
              <a:t>denoising</a:t>
            </a:r>
            <a:r>
              <a:rPr lang="en-US" sz="1800" dirty="0">
                <a:cs typeface="Times New Roman" panose="02020603050405020304" pitchFamily="18" charset="0"/>
              </a:rPr>
              <a:t> steps, progressively refining quality. This method balances high-resolution output with computational efficiency, marking a significant step forward in AI-driven visual creation.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Key Contributions</a:t>
            </a:r>
            <a:r>
              <a:rPr lang="en-US" sz="1800" dirty="0">
                <a:cs typeface="Times New Roman" panose="02020603050405020304" pitchFamily="18" charset="0"/>
              </a:rPr>
              <a:t>: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cs typeface="Times New Roman" panose="02020603050405020304" pitchFamily="18" charset="0"/>
              </a:rPr>
              <a:t>Enhanced Quality:</a:t>
            </a:r>
            <a:r>
              <a:rPr lang="en-US" sz="1800" dirty="0">
                <a:cs typeface="Times New Roman" panose="02020603050405020304" pitchFamily="18" charset="0"/>
              </a:rPr>
              <a:t> Produces detailed images with minimal noise.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cs typeface="Times New Roman" panose="02020603050405020304" pitchFamily="18" charset="0"/>
              </a:rPr>
              <a:t>Efficiency:</a:t>
            </a:r>
            <a:r>
              <a:rPr lang="en-US" sz="1800" dirty="0">
                <a:cs typeface="Times New Roman" panose="02020603050405020304" pitchFamily="18" charset="0"/>
              </a:rPr>
              <a:t> Operates in a latent space, saving computational resources.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cs typeface="Times New Roman" panose="02020603050405020304" pitchFamily="18" charset="0"/>
              </a:rPr>
              <a:t>Applications:</a:t>
            </a:r>
            <a:r>
              <a:rPr lang="en-US" sz="1800" dirty="0">
                <a:cs typeface="Times New Roman" panose="02020603050405020304" pitchFamily="18" charset="0"/>
              </a:rPr>
              <a:t> Useful in creative industries, education, and content creation.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Relevance to Project</a:t>
            </a:r>
            <a:r>
              <a:rPr lang="en-US" sz="1800" dirty="0">
                <a:cs typeface="Times New Roman" panose="02020603050405020304" pitchFamily="18" charset="0"/>
              </a:rPr>
              <a:t>: This model forms the core of our project’s text-to-image generation, enabling quick, accurate visualizations that bring text descriptions to life effectively and efficiently.</a:t>
            </a:r>
            <a:endParaRPr lang="en-US" sz="1800" dirty="0">
              <a:cs typeface="Times New Roman" panose="02020603050405020304" pitchFamily="18" charset="0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371750" y="462606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838200" y="1377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Georgia" panose="02040502050405020303"/>
              <a:buNone/>
            </a:pP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Aim and Objective</a:t>
            </a:r>
            <a:br>
              <a:rPr lang="en-US" dirty="0">
                <a:solidFill>
                  <a:srgbClr val="000000"/>
                </a:solidFill>
              </a:rPr>
            </a:br>
            <a:endParaRPr dirty="0"/>
          </a:p>
        </p:txBody>
      </p:sp>
      <p:sp>
        <p:nvSpPr>
          <p:cNvPr id="138" name="Google Shape;1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" name="Google Shape;153;p20"/>
          <p:cNvSpPr txBox="1">
            <a:spLocks noGrp="1"/>
          </p:cNvSpPr>
          <p:nvPr>
            <p:ph type="body" idx="1"/>
          </p:nvPr>
        </p:nvSpPr>
        <p:spPr>
          <a:xfrm>
            <a:off x="838200" y="1170305"/>
            <a:ext cx="10515600" cy="5022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/>
          </a:bodyPr>
          <a:lstStyle/>
          <a:p>
            <a:pPr marL="228600" lvl="0" indent="-508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6400" b="1" dirty="0">
                <a:cs typeface="Times New Roman" panose="02020603050405020304" pitchFamily="18" charset="0"/>
              </a:rPr>
              <a:t>Aim</a:t>
            </a:r>
            <a:r>
              <a:rPr lang="en-US" sz="6400" dirty="0">
                <a:cs typeface="Times New Roman" panose="02020603050405020304" pitchFamily="18" charset="0"/>
              </a:rPr>
              <a:t>:</a:t>
            </a:r>
            <a:br>
              <a:rPr lang="en-US" sz="5600" dirty="0">
                <a:cs typeface="Times New Roman" panose="02020603050405020304" pitchFamily="18" charset="0"/>
              </a:rPr>
            </a:br>
            <a:r>
              <a:rPr lang="en-US" altLang="en-US" sz="5600" dirty="0">
                <a:cs typeface="Times New Roman" panose="02020603050405020304" pitchFamily="18" charset="0"/>
              </a:rPr>
              <a:t>To implement and customize a Stable Diffusion pipeline using Hugging Face's diffusers library for generating high-quality images from text prompts, with a focus on parameter optimization and versatile image generation capabilities.</a:t>
            </a:r>
            <a:endParaRPr lang="en-US" altLang="en-US" sz="5600" dirty="0"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6400" b="1" dirty="0">
                <a:cs typeface="Times New Roman" panose="02020603050405020304" pitchFamily="18" charset="0"/>
              </a:rPr>
              <a:t>Objectives</a:t>
            </a:r>
            <a:r>
              <a:rPr lang="en-US" sz="6400" dirty="0">
                <a:cs typeface="Times New Roman" panose="02020603050405020304" pitchFamily="18" charset="0"/>
              </a:rPr>
              <a:t>:</a:t>
            </a:r>
            <a:endParaRPr lang="en-US" sz="6400" dirty="0">
              <a:cs typeface="Times New Roman" panose="02020603050405020304" pitchFamily="18" charset="0"/>
            </a:endParaRPr>
          </a:p>
          <a:p>
            <a:pPr marL="457200" indent="-342900">
              <a:buFont typeface="Wingdings" panose="05000000000000000000" charset="0"/>
              <a:buChar char="§"/>
            </a:pPr>
            <a:r>
              <a:rPr lang="en-US" altLang="en-US" sz="6000" dirty="0">
                <a:cs typeface="Times New Roman" panose="02020603050405020304" pitchFamily="18" charset="0"/>
              </a:rPr>
              <a:t>Mode</a:t>
            </a:r>
            <a:r>
              <a:rPr lang="en-US" altLang="en-US" sz="6000" dirty="0">
                <a:cs typeface="Times New Roman" panose="02020603050405020304" pitchFamily="18" charset="0"/>
              </a:rPr>
              <a:t>l Integration &amp; Pipeline Setup</a:t>
            </a:r>
            <a:r>
              <a:rPr lang="en-IN" altLang="en-US" sz="6000" dirty="0">
                <a:cs typeface="Times New Roman" panose="02020603050405020304" pitchFamily="18" charset="0"/>
              </a:rPr>
              <a:t>:</a:t>
            </a:r>
            <a:endParaRPr lang="en-IN" altLang="en-US" sz="6000" dirty="0">
              <a:cs typeface="Times New Roman" panose="02020603050405020304" pitchFamily="18" charset="0"/>
            </a:endParaRPr>
          </a:p>
          <a:p>
            <a:pPr marL="400050" indent="-285750">
              <a:buFont typeface="Arial" panose="020B0604020202020204" pitchFamily="34" charset="0"/>
              <a:buAutoNum type="arabicPeriod"/>
            </a:pPr>
            <a:r>
              <a:rPr lang="en-US" altLang="en-US" sz="5600" dirty="0">
                <a:cs typeface="Times New Roman" panose="02020603050405020304" pitchFamily="18" charset="0"/>
                <a:sym typeface="+mn-ea"/>
              </a:rPr>
              <a:t>Successfully integrate pretrained diffusion models from Hugging Face Hub (e.g., "dreamlike-art/dreamlike-diffusion-1.0", "stabilityai/stable-diffusion-xl-base-1.0")</a:t>
            </a:r>
            <a:endParaRPr lang="en-US" altLang="en-US" sz="5600" dirty="0">
              <a:cs typeface="Times New Roman" panose="02020603050405020304" pitchFamily="18" charset="0"/>
            </a:endParaRPr>
          </a:p>
          <a:p>
            <a:pPr marL="400050" indent="-285750">
              <a:buFont typeface="Arial" panose="020B0604020202020204" pitchFamily="34" charset="0"/>
              <a:buAutoNum type="arabicPeriod"/>
            </a:pPr>
            <a:r>
              <a:rPr lang="en-US" altLang="en-US" sz="5600" dirty="0">
                <a:cs typeface="Times New Roman" panose="02020603050405020304" pitchFamily="18" charset="0"/>
                <a:sym typeface="+mn-ea"/>
              </a:rPr>
              <a:t>Configure the pipeline for CUDA acceleration with PyTorch's half-precision capabilities for optimal memory usage and faster generation</a:t>
            </a:r>
            <a:endParaRPr lang="en-IN" altLang="en-US" sz="5600" dirty="0">
              <a:cs typeface="Times New Roman" panose="02020603050405020304" pitchFamily="18" charset="0"/>
            </a:endParaRPr>
          </a:p>
          <a:p>
            <a:pPr marL="457200" indent="-342900">
              <a:buFont typeface="Wingdings" panose="05000000000000000000" charset="0"/>
              <a:buChar char="§"/>
            </a:pPr>
            <a:r>
              <a:rPr lang="en-US" altLang="en-US" sz="6000" dirty="0">
                <a:cs typeface="Times New Roman" panose="02020603050405020304" pitchFamily="18" charset="0"/>
                <a:sym typeface="+mn-ea"/>
              </a:rPr>
              <a:t>Parameter Optimization &amp; Customization</a:t>
            </a:r>
            <a:endParaRPr lang="en-US" altLang="en-US" sz="6000" dirty="0">
              <a:cs typeface="Times New Roman" panose="02020603050405020304" pitchFamily="18" charset="0"/>
              <a:sym typeface="+mn-ea"/>
            </a:endParaRPr>
          </a:p>
          <a:p>
            <a:pPr marL="400050" indent="-285750">
              <a:buFont typeface="Arial" panose="020B0604020202020204" pitchFamily="34" charset="0"/>
              <a:buAutoNum type="arabicPeriod"/>
            </a:pPr>
            <a:r>
              <a:rPr lang="en-US" altLang="en-US" sz="5600" dirty="0">
                <a:cs typeface="Times New Roman" panose="02020603050405020304" pitchFamily="18" charset="0"/>
              </a:rPr>
              <a:t>Experiment with varying inference steps and image dimensions to balance quality and generation speed</a:t>
            </a:r>
            <a:endParaRPr lang="en-US" altLang="en-US" sz="5600" dirty="0">
              <a:cs typeface="Times New Roman" panose="02020603050405020304" pitchFamily="18" charset="0"/>
            </a:endParaRPr>
          </a:p>
          <a:p>
            <a:pPr marL="400050" indent="-285750">
              <a:buFont typeface="Arial" panose="020B0604020202020204" pitchFamily="34" charset="0"/>
              <a:buAutoNum type="arabicPeriod"/>
            </a:pPr>
            <a:r>
              <a:rPr lang="en-US" altLang="en-US" sz="5600" dirty="0">
                <a:cs typeface="Times New Roman" panose="02020603050405020304" pitchFamily="18" charset="0"/>
              </a:rPr>
              <a:t>Develop functionality for batch generation with custom parameters (num_images_per_prompt, width, height)</a:t>
            </a:r>
            <a:endParaRPr lang="en-US" altLang="en-US" sz="5600" dirty="0">
              <a:cs typeface="Times New Roman" panose="02020603050405020304" pitchFamily="18" charset="0"/>
            </a:endParaRPr>
          </a:p>
          <a:p>
            <a:pPr marL="457200" indent="-342900">
              <a:buFont typeface="Wingdings" panose="05000000000000000000" charset="0"/>
              <a:buChar char="§"/>
            </a:pPr>
            <a:r>
              <a:rPr lang="en-US" altLang="en-US" sz="6000" dirty="0">
                <a:cs typeface="Times New Roman" panose="02020603050405020304" pitchFamily="18" charset="0"/>
                <a:sym typeface="+mn-ea"/>
              </a:rPr>
              <a:t>Prompt Engineering &amp; Quality Control</a:t>
            </a:r>
            <a:endParaRPr lang="en-US" altLang="en-US" sz="6000" dirty="0">
              <a:cs typeface="Times New Roman" panose="02020603050405020304" pitchFamily="18" charset="0"/>
              <a:sym typeface="+mn-ea"/>
            </a:endParaRPr>
          </a:p>
          <a:p>
            <a:pPr marL="400050" indent="-285750">
              <a:buFont typeface="Arial" panose="020B0604020202020204" pitchFamily="34" charset="0"/>
              <a:buAutoNum type="arabicPeriod"/>
            </a:pPr>
            <a:r>
              <a:rPr lang="en-US" altLang="en-US" sz="5600" dirty="0">
                <a:cs typeface="Times New Roman" panose="02020603050405020304" pitchFamily="18" charset="0"/>
              </a:rPr>
              <a:t>Create detailed, descriptive prompts with specific visual elements while implementing negative prompting techniques to reduce unwanted artifacts</a:t>
            </a:r>
            <a:endParaRPr lang="en-US" altLang="en-US" sz="5600" dirty="0">
              <a:cs typeface="Times New Roman" panose="02020603050405020304" pitchFamily="18" charset="0"/>
            </a:endParaRPr>
          </a:p>
          <a:p>
            <a:pPr marL="400050" indent="-285750">
              <a:buFont typeface="Arial" panose="020B0604020202020204" pitchFamily="34" charset="0"/>
              <a:buAutoNum type="arabicPeriod"/>
            </a:pPr>
            <a:r>
              <a:rPr lang="en-US" altLang="en-US" sz="5600" dirty="0">
                <a:cs typeface="Times New Roman" panose="02020603050405020304" pitchFamily="18" charset="0"/>
              </a:rPr>
              <a:t>Develop best practices for prompt structure to consistently generate high-quality images across various subjects</a:t>
            </a:r>
            <a:endParaRPr lang="en-US" altLang="en-US" sz="5600" dirty="0">
              <a:cs typeface="Times New Roman" panose="02020603050405020304" pitchFamily="18" charset="0"/>
            </a:endParaRPr>
          </a:p>
          <a:p>
            <a:pPr marL="457200" indent="-342900">
              <a:buFont typeface="+mj-lt"/>
              <a:buAutoNum type="arabicPeriod"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457200" indent="-342900">
              <a:buFont typeface="+mj-lt"/>
              <a:buAutoNum type="arabicPeriod"/>
            </a:pPr>
            <a:endParaRPr lang="en-IN" altLang="en-US" dirty="0">
              <a:cs typeface="Times New Roman" panose="02020603050405020304" pitchFamily="18" charset="0"/>
            </a:endParaRPr>
          </a:p>
          <a:p>
            <a:pPr marL="457200" indent="-342900">
              <a:buFont typeface="+mj-lt"/>
              <a:buAutoNum type="arabicPeriod"/>
            </a:pPr>
            <a:endParaRPr lang="en-IN" altLang="en-US" dirty="0">
              <a:cs typeface="Times New Roman" panose="02020603050405020304" pitchFamily="18" charset="0"/>
            </a:endParaRPr>
          </a:p>
          <a:p>
            <a:pPr marL="457200" indent="-342900">
              <a:buFont typeface="+mj-lt"/>
              <a:buAutoNum type="arabicPeriod"/>
            </a:pPr>
            <a:endParaRPr lang="en-IN" altLang="en-US" dirty="0">
              <a:cs typeface="Times New Roman" panose="02020603050405020304" pitchFamily="18" charset="0"/>
            </a:endParaRPr>
          </a:p>
          <a:p>
            <a:pPr marL="457200" indent="-342900">
              <a:buFont typeface="+mj-lt"/>
              <a:buAutoNum type="arabicPeriod"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US" sz="2700" dirty="0"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71750" y="365125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065"/>
            <a:ext cx="10515600" cy="4226560"/>
          </a:xfrm>
        </p:spPr>
        <p:txBody>
          <a:bodyPr>
            <a:normAutofit/>
          </a:bodyPr>
          <a:p>
            <a:pPr marL="457200" indent="-342900">
              <a:buFont typeface="Wingdings" panose="05000000000000000000" charset="0"/>
              <a:buChar char="§"/>
            </a:pPr>
            <a:r>
              <a:rPr lang="en-US" altLang="en-US" sz="1665" dirty="0">
                <a:cs typeface="Times New Roman" panose="02020603050405020304" pitchFamily="18" charset="0"/>
                <a:sym typeface="+mn-ea"/>
              </a:rPr>
              <a:t>Visualization &amp; Output Processing</a:t>
            </a:r>
            <a:endParaRPr lang="en-US" altLang="en-US" sz="1665" dirty="0">
              <a:cs typeface="Times New Roman" panose="02020603050405020304" pitchFamily="18" charset="0"/>
              <a:sym typeface="+mn-ea"/>
            </a:endParaRPr>
          </a:p>
          <a:p>
            <a:pPr marL="457200" indent="-342900">
              <a:buFont typeface="Arial" panose="020B0604020202020204" pitchFamily="34" charset="0"/>
              <a:buAutoNum type="arabicPeriod"/>
            </a:pPr>
            <a:r>
              <a:rPr lang="en-US" altLang="en-US" sz="1665" dirty="0">
                <a:cs typeface="Times New Roman" panose="02020603050405020304" pitchFamily="18" charset="0"/>
                <a:sym typeface="+mn-ea"/>
              </a:rPr>
              <a:t>Create a robust visualization function (generate_image) that dynamically handles single and multiple image outputs</a:t>
            </a:r>
            <a:endParaRPr lang="en-US" altLang="en-US" sz="1665" dirty="0">
              <a:cs typeface="Times New Roman" panose="02020603050405020304" pitchFamily="18" charset="0"/>
              <a:sym typeface="+mn-ea"/>
            </a:endParaRPr>
          </a:p>
          <a:p>
            <a:pPr marL="457200" indent="-342900">
              <a:buFont typeface="Arial" panose="020B0604020202020204" pitchFamily="34" charset="0"/>
              <a:buAutoNum type="arabicPeriod"/>
            </a:pPr>
            <a:r>
              <a:rPr lang="en-US" altLang="en-US" sz="1665" dirty="0">
                <a:cs typeface="Times New Roman" panose="02020603050405020304" pitchFamily="18" charset="0"/>
                <a:sym typeface="+mn-ea"/>
              </a:rPr>
              <a:t>Implement proper display formatting using Matplotlib for clean presentation and comparison of results</a:t>
            </a:r>
            <a:endParaRPr lang="en-US" altLang="en-US" sz="1665" dirty="0">
              <a:cs typeface="Times New Roman" panose="02020603050405020304" pitchFamily="18" charset="0"/>
              <a:sym typeface="+mn-ea"/>
            </a:endParaRPr>
          </a:p>
          <a:p>
            <a:pPr marL="457200" indent="-342900">
              <a:buFont typeface="Wingdings" panose="05000000000000000000" charset="0"/>
              <a:buChar char="§"/>
            </a:pPr>
            <a:r>
              <a:rPr lang="en-US" altLang="en-US" sz="1665" dirty="0">
                <a:cs typeface="Times New Roman" panose="02020603050405020304" pitchFamily="18" charset="0"/>
                <a:sym typeface="+mn-ea"/>
              </a:rPr>
              <a:t>Model Comparison &amp; Selection</a:t>
            </a:r>
            <a:endParaRPr lang="en-US" altLang="en-US" sz="1665" dirty="0">
              <a:cs typeface="Times New Roman" panose="02020603050405020304" pitchFamily="18" charset="0"/>
              <a:sym typeface="+mn-ea"/>
            </a:endParaRPr>
          </a:p>
          <a:p>
            <a:pPr marL="457200" indent="-342900">
              <a:buFont typeface="Arial" panose="020B0604020202020204" pitchFamily="34" charset="0"/>
              <a:buAutoNum type="arabicPeriod"/>
            </a:pPr>
            <a:r>
              <a:rPr lang="en-US" altLang="en-US" sz="1665" dirty="0">
                <a:cs typeface="Times New Roman" panose="02020603050405020304" pitchFamily="18" charset="0"/>
                <a:sym typeface="+mn-ea"/>
              </a:rPr>
              <a:t>Evaluate performance differences between different model variants to determine optimal choices for specific use cases</a:t>
            </a:r>
            <a:endParaRPr lang="en-US" altLang="en-US" sz="1665" dirty="0">
              <a:cs typeface="Times New Roman" panose="02020603050405020304" pitchFamily="18" charset="0"/>
              <a:sym typeface="+mn-ea"/>
            </a:endParaRPr>
          </a:p>
          <a:p>
            <a:pPr marL="457200" indent="-342900">
              <a:buFont typeface="Arial" panose="020B0604020202020204" pitchFamily="34" charset="0"/>
              <a:buAutoNum type="arabicPeriod"/>
            </a:pPr>
            <a:r>
              <a:rPr lang="en-US" altLang="en-US" sz="1665" dirty="0">
                <a:cs typeface="Times New Roman" panose="02020603050405020304" pitchFamily="18" charset="0"/>
                <a:sym typeface="+mn-ea"/>
              </a:rPr>
              <a:t>Benchmark generation quality and speed across different hardware configurations and parameter settings</a:t>
            </a:r>
            <a:endParaRPr lang="en-US" altLang="en-US" sz="1665" dirty="0">
              <a:cs typeface="Times New Roman" panose="02020603050405020304" pitchFamily="18" charset="0"/>
              <a:sym typeface="+mn-ea"/>
            </a:endParaRPr>
          </a:p>
          <a:p>
            <a:endParaRPr lang="en-US" sz="1665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Title of your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1030605" y="3695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Georgia" panose="02040502050405020303"/>
              <a:buNone/>
            </a:pP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Aim and Objective</a:t>
            </a:r>
            <a:br>
              <a:rPr lang="en-US" dirty="0">
                <a:solidFill>
                  <a:srgbClr val="000000"/>
                </a:solidFill>
              </a:rPr>
            </a:b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eorgia" panose="02040502050405020303"/>
              <a:buNone/>
            </a:pPr>
            <a:r>
              <a:rPr lang="en-US" dirty="0">
                <a:solidFill>
                  <a:srgbClr val="000000"/>
                </a:solidFill>
              </a:rPr>
              <a:t>Methodology</a:t>
            </a:r>
            <a:br>
              <a:rPr lang="en-US" dirty="0">
                <a:solidFill>
                  <a:srgbClr val="000000"/>
                </a:solidFill>
              </a:rPr>
            </a:br>
            <a:endParaRPr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" name="Cube 4"/>
          <p:cNvSpPr/>
          <p:nvPr/>
        </p:nvSpPr>
        <p:spPr>
          <a:xfrm>
            <a:off x="130273" y="2800171"/>
            <a:ext cx="1440196" cy="1084589"/>
          </a:xfrm>
          <a:prstGeom prst="cub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  <a:endParaRPr lang="en-US" dirty="0"/>
          </a:p>
          <a:p>
            <a:pPr algn="ctr"/>
            <a:r>
              <a:rPr lang="en-IN" dirty="0"/>
              <a:t>(Text Prompt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890980" y="2870861"/>
            <a:ext cx="2209802" cy="8483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UNetModel</a:t>
            </a:r>
            <a:br>
              <a:rPr lang="en-US" dirty="0"/>
            </a:br>
            <a:r>
              <a:rPr lang="en-US" dirty="0"/>
              <a:t>(</a:t>
            </a:r>
            <a:r>
              <a:rPr lang="en-IN" dirty="0"/>
              <a:t>Latent Representation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612007" y="2433262"/>
            <a:ext cx="1310102" cy="16339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Output</a:t>
            </a:r>
            <a:br>
              <a:rPr lang="en-US" dirty="0"/>
            </a:br>
            <a:r>
              <a:rPr lang="en-US" dirty="0"/>
              <a:t>(</a:t>
            </a:r>
            <a:r>
              <a:rPr lang="en-IN" dirty="0"/>
              <a:t>Generate Image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11" name="Arrow: Right 10"/>
          <p:cNvSpPr/>
          <p:nvPr/>
        </p:nvSpPr>
        <p:spPr>
          <a:xfrm>
            <a:off x="8966996" y="3032856"/>
            <a:ext cx="1394304" cy="484632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5" idx="4"/>
            <a:endCxn id="8" idx="1"/>
          </p:cNvCxnSpPr>
          <p:nvPr/>
        </p:nvCxnSpPr>
        <p:spPr>
          <a:xfrm flipV="1">
            <a:off x="1585456" y="3288891"/>
            <a:ext cx="528482" cy="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332877" y="3287335"/>
            <a:ext cx="481779" cy="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130228" y="3273043"/>
            <a:ext cx="481779" cy="2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771589" y="153679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32128" y="3517488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143439" y="3032856"/>
            <a:ext cx="21948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2109960" y="2918293"/>
            <a:ext cx="2209802" cy="8483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Latent Space</a:t>
            </a:r>
            <a:br>
              <a:rPr lang="en-US" dirty="0"/>
            </a:br>
            <a:r>
              <a:rPr lang="en-US" dirty="0"/>
              <a:t>(</a:t>
            </a:r>
            <a:r>
              <a:rPr lang="en-IN" dirty="0"/>
              <a:t>Encoded Text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446693" y="1872546"/>
            <a:ext cx="138245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000" dirty="0"/>
              <a:t>sun set image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"/>
          <a:srcRect l="6647" t="6611" r="9063" b="5493"/>
          <a:stretch>
            <a:fillRect/>
          </a:stretch>
        </p:blipFill>
        <p:spPr>
          <a:xfrm>
            <a:off x="10446693" y="3948978"/>
            <a:ext cx="1349828" cy="11611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71750" y="555722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4013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000" b="0" dirty="0">
                <a:effectLst/>
              </a:rPr>
              <a:t>dreamlike-art/dreamlike-diffusion-1.0</a:t>
            </a:r>
            <a:endParaRPr lang="en-IN" sz="2000" dirty="0"/>
          </a:p>
          <a:p>
            <a:pPr algn="just"/>
            <a:r>
              <a:rPr lang="en-US" sz="1600" dirty="0"/>
              <a:t>Built on a modified latent diffusion framework with a UNet backbone (approximately 860M parameters), fine-tuned from Stable Diffusion 1.5</a:t>
            </a:r>
            <a:endParaRPr lang="en-US" sz="1600" dirty="0"/>
          </a:p>
          <a:p>
            <a:pPr algn="just"/>
            <a:r>
              <a:rPr lang="en-US" sz="1600" dirty="0"/>
              <a:t>Trained on a curated dataset of over 2 million high-resolution images (512×512 resolution) using a combination of contrastive learning and adversarial training approaches</a:t>
            </a:r>
            <a:endParaRPr lang="en-US" sz="1600" dirty="0"/>
          </a:p>
          <a:p>
            <a:pPr algn="just"/>
            <a:r>
              <a:rPr lang="en-US" sz="1600" dirty="0"/>
              <a:t>Achieves 35% improved CLIP score on aesthetic evaluations compared to its base model, utilizes 16-bit floating point precision for inference with 4.5GB VRAM requirements</a:t>
            </a:r>
            <a:endParaRPr lang="en-US" sz="1600" dirty="0"/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1800" b="0" kern="1200" dirty="0">
                <a:effectLst/>
                <a:latin typeface="Bookman Old Style" panose="02050604050505020204" pitchFamily="18" charset="0"/>
                <a:ea typeface="+mn-ea"/>
                <a:cs typeface="+mn-cs"/>
              </a:rPr>
              <a:t>stabilityai/stable-diffusion-xl-base-1.0</a:t>
            </a:r>
            <a:endParaRPr lang="en-IN" sz="1800" b="0" kern="1200" dirty="0">
              <a:effectLst/>
              <a:latin typeface="Bookman Old Style" panose="02050604050505020204" pitchFamily="18" charset="0"/>
              <a:ea typeface="+mn-ea"/>
              <a:cs typeface="+mn-cs"/>
            </a:endParaRPr>
          </a:p>
          <a:p>
            <a:pPr algn="just"/>
            <a:r>
              <a:rPr lang="en-US" sz="1600" dirty="0"/>
              <a:t>Implements an advanced latent diffusion architecture with approximately 2.6B parameters, featuring a dual UNet design that incorporates a base UNet (860M parameters)</a:t>
            </a:r>
            <a:endParaRPr lang="en-US" sz="1600" dirty="0"/>
          </a:p>
          <a:p>
            <a:pPr algn="just"/>
            <a:r>
              <a:rPr lang="en-US" sz="1600" dirty="0"/>
              <a:t>Trained on a diverse dataset of billions of image-text pairs using a multi-stage training approach with text-to-image conditioning, incorporating CLIP </a:t>
            </a:r>
            <a:r>
              <a:rPr lang="en-US" sz="1600" dirty="0" err="1"/>
              <a:t>ViT</a:t>
            </a:r>
            <a:r>
              <a:rPr lang="en-US" sz="1600" dirty="0"/>
              <a:t>-L/14 </a:t>
            </a:r>
            <a:endParaRPr lang="en-US" sz="1600" dirty="0"/>
          </a:p>
          <a:p>
            <a:pPr algn="just"/>
            <a:r>
              <a:rPr lang="en-US" sz="1600" dirty="0"/>
              <a:t>Demonstrates significantly enhanced photorealism with 40% improvement in FID scores compared to previous-generation models, supports various sampling methods including DPM++ 2M Karras</a:t>
            </a:r>
            <a:endParaRPr lang="en-US" sz="2400" dirty="0"/>
          </a:p>
          <a:p>
            <a:pPr algn="just"/>
            <a:endParaRPr lang="en-IN" sz="2400" dirty="0">
              <a:effectLst/>
            </a:endParaRP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71750" y="559279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2166425"/>
            <a:ext cx="3030415" cy="16037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824132" y="2574387"/>
            <a:ext cx="304448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4132" y="1589649"/>
            <a:ext cx="2383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Prompt-A dog wearing a hat</a:t>
            </a:r>
            <a:endParaRPr lang="en-IN" sz="1200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015783" y="1894669"/>
            <a:ext cx="0" cy="271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95754" y="2166425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CLIP Model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055077" y="2771335"/>
            <a:ext cx="1181686" cy="801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Tokenizer</a:t>
            </a:r>
            <a:endParaRPr lang="en-IN" sz="1600" dirty="0"/>
          </a:p>
        </p:txBody>
      </p:sp>
      <p:sp>
        <p:nvSpPr>
          <p:cNvPr id="20" name="Rectangle 19"/>
          <p:cNvSpPr/>
          <p:nvPr/>
        </p:nvSpPr>
        <p:spPr>
          <a:xfrm>
            <a:off x="2453639" y="2771335"/>
            <a:ext cx="1241473" cy="801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Token To Embedding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838200" y="4064121"/>
            <a:ext cx="3030415" cy="8018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Text Embedding</a:t>
            </a:r>
            <a:endParaRPr lang="en-US" dirty="0"/>
          </a:p>
          <a:p>
            <a:pPr algn="ctr"/>
            <a:r>
              <a:rPr lang="en-US" dirty="0"/>
              <a:t>1x77x768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4818185" y="2785241"/>
            <a:ext cx="2560320" cy="7068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Latents</a:t>
            </a:r>
            <a:endParaRPr lang="en-US" dirty="0"/>
          </a:p>
          <a:p>
            <a:pPr algn="ctr"/>
            <a:r>
              <a:rPr lang="en-US" dirty="0"/>
              <a:t>1x4x64x64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4818185" y="3823908"/>
            <a:ext cx="2504049" cy="4049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U-Net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4869766" y="4586606"/>
            <a:ext cx="2452468" cy="60267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Conditional </a:t>
            </a:r>
            <a:r>
              <a:rPr lang="en-US" dirty="0" err="1"/>
              <a:t>Latents</a:t>
            </a:r>
            <a:endParaRPr lang="en-US" dirty="0"/>
          </a:p>
          <a:p>
            <a:pPr algn="ctr"/>
            <a:r>
              <a:rPr lang="en-US" dirty="0"/>
              <a:t>1x4x64x64</a:t>
            </a:r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5101881" y="5499778"/>
            <a:ext cx="1885071" cy="54607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VAE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8740727" y="3626003"/>
            <a:ext cx="1838178" cy="9606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Scheduler algorithm to add noise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5001064" y="1434147"/>
            <a:ext cx="2297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Gaussian Noise</a:t>
            </a:r>
            <a:endParaRPr lang="en-US" dirty="0"/>
          </a:p>
          <a:p>
            <a:r>
              <a:rPr lang="en-US" dirty="0"/>
              <a:t>    1x4x64x64</a:t>
            </a:r>
            <a:endParaRPr lang="en-IN" dirty="0"/>
          </a:p>
        </p:txBody>
      </p:sp>
      <p:pic>
        <p:nvPicPr>
          <p:cNvPr id="1026" name="Picture 2" descr="https://tse3.mm.bing.net/th?id=OIP.RSOn0B2SmSO9AJdtInMYBgAAAA&amp;pid=Api&amp;P=0&amp;h=180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7" t="26629" r="12253" b="22498"/>
          <a:stretch>
            <a:fillRect/>
          </a:stretch>
        </p:blipFill>
        <p:spPr bwMode="auto">
          <a:xfrm>
            <a:off x="5737857" y="2065115"/>
            <a:ext cx="412068" cy="44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Straight Arrow Connector 1023"/>
          <p:cNvCxnSpPr/>
          <p:nvPr/>
        </p:nvCxnSpPr>
        <p:spPr>
          <a:xfrm>
            <a:off x="2194560" y="3785309"/>
            <a:ext cx="7034" cy="25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9" name="Elbow Connector 1028"/>
          <p:cNvCxnSpPr>
            <a:endCxn id="23" idx="1"/>
          </p:cNvCxnSpPr>
          <p:nvPr/>
        </p:nvCxnSpPr>
        <p:spPr>
          <a:xfrm flipV="1">
            <a:off x="3868615" y="4026392"/>
            <a:ext cx="949570" cy="5173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936857" y="3502015"/>
            <a:ext cx="7034" cy="25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943891" y="4303064"/>
            <a:ext cx="7034" cy="25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929823" y="5243189"/>
            <a:ext cx="7034" cy="25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922789" y="2532701"/>
            <a:ext cx="7034" cy="25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Elbow Connector 1042"/>
          <p:cNvCxnSpPr>
            <a:stCxn id="27" idx="0"/>
          </p:cNvCxnSpPr>
          <p:nvPr/>
        </p:nvCxnSpPr>
        <p:spPr>
          <a:xfrm rot="16200000" flipV="1">
            <a:off x="8190301" y="2156488"/>
            <a:ext cx="657720" cy="22813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378505" y="5064369"/>
            <a:ext cx="228131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7" idx="2"/>
          </p:cNvCxnSpPr>
          <p:nvPr/>
        </p:nvCxnSpPr>
        <p:spPr>
          <a:xfrm flipH="1" flipV="1">
            <a:off x="9659816" y="4586606"/>
            <a:ext cx="1" cy="477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723162" y="4740812"/>
            <a:ext cx="1772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Repeat N times</a:t>
            </a:r>
            <a:endParaRPr lang="en-IN" sz="1600" dirty="0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2"/>
          <a:srcRect l="18866" t="27797" r="11597"/>
          <a:stretch>
            <a:fillRect/>
          </a:stretch>
        </p:blipFill>
        <p:spPr>
          <a:xfrm>
            <a:off x="8740727" y="5233572"/>
            <a:ext cx="1111350" cy="981485"/>
          </a:xfrm>
          <a:prstGeom prst="rect">
            <a:avLst/>
          </a:prstGeom>
        </p:spPr>
      </p:pic>
      <p:cxnSp>
        <p:nvCxnSpPr>
          <p:cNvPr id="49" name="Straight Arrow Connector 48"/>
          <p:cNvCxnSpPr/>
          <p:nvPr/>
        </p:nvCxnSpPr>
        <p:spPr>
          <a:xfrm>
            <a:off x="7104185" y="5724314"/>
            <a:ext cx="15052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371750" y="409361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80" y="169888"/>
            <a:ext cx="7621320" cy="1325563"/>
          </a:xfrm>
        </p:spPr>
        <p:txBody>
          <a:bodyPr>
            <a:normAutofit/>
          </a:bodyPr>
          <a:lstStyle/>
          <a:p>
            <a:r>
              <a:rPr lang="en-IE" sz="3600" dirty="0">
                <a:solidFill>
                  <a:srgbClr val="000000"/>
                </a:solidFill>
              </a:rPr>
              <a:t>Different Phases of Implementation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ts val="4400"/>
            </a:pPr>
            <a:r>
              <a:rPr lang="en-IE" dirty="0">
                <a:solidFill>
                  <a:srgbClr val="000000"/>
                </a:solidFill>
              </a:rPr>
              <a:t>Implementation</a:t>
            </a:r>
            <a:endParaRPr dirty="0"/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xfrm>
            <a:off x="838200" y="1538514"/>
            <a:ext cx="10515600" cy="463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800" dirty="0">
                <a:cs typeface="Times New Roman" panose="02020603050405020304" pitchFamily="18" charset="0"/>
              </a:rPr>
              <a:t>Text Embedding Generation: The text prompt is transformed into a numerical embedding that the model can understand and process.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800" dirty="0">
                <a:cs typeface="Times New Roman" panose="02020603050405020304" pitchFamily="18" charset="0"/>
              </a:rPr>
              <a:t>Noise Initialization: Gaussian noise is applied to an initial image representation, serving as the foundation for image generation.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800" dirty="0">
                <a:cs typeface="Times New Roman" panose="02020603050405020304" pitchFamily="18" charset="0"/>
              </a:rPr>
              <a:t>U-Net Denoising: Guided by the text embedding, the U-Net architecture progressively removes noise and enhances the image.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800" dirty="0">
                <a:cs typeface="Times New Roman" panose="02020603050405020304" pitchFamily="18" charset="0"/>
              </a:rPr>
              <a:t>Iterative Scheduling: A scheduler controls the step-by-step process of adding and removing noise to incrementally refine the image.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800" dirty="0">
                <a:cs typeface="Times New Roman" panose="02020603050405020304" pitchFamily="18" charset="0"/>
              </a:rPr>
              <a:t>VAE Output Decoding: The final refined latent space is decoded by a Variational Autoencoder (VAE) to produce a high-quality, clear image.</a:t>
            </a:r>
            <a:endParaRPr lang="en-US" sz="1800" dirty="0">
              <a:cs typeface="Times New Roman" panose="02020603050405020304" pitchFamily="18" charset="0"/>
            </a:endParaRPr>
          </a:p>
        </p:txBody>
      </p:sp>
      <p:sp>
        <p:nvSpPr>
          <p:cNvPr id="146" name="Google Shape;14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371750" y="529230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1718469"/>
            <a:ext cx="4591050" cy="4610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619250"/>
            <a:ext cx="4629150" cy="46196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81750" y="398709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400" y="1697512"/>
            <a:ext cx="3391970" cy="43513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685" y="1697512"/>
            <a:ext cx="4114800" cy="43513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85" y="1697512"/>
            <a:ext cx="3741282" cy="4093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57768" y="412295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12295"/>
            <a:ext cx="8658225" cy="1325563"/>
          </a:xfrm>
        </p:spPr>
        <p:txBody>
          <a:bodyPr>
            <a:noAutofit/>
          </a:bodyPr>
          <a:lstStyle/>
          <a:p>
            <a:r>
              <a:rPr lang="en-US" sz="3200" b="0" i="0" dirty="0">
                <a:solidFill>
                  <a:srgbClr val="1F1F1F"/>
                </a:solidFill>
                <a:effectLst/>
              </a:rPr>
              <a:t>Working with Stable Diffusion parameters</a:t>
            </a:r>
            <a:br>
              <a:rPr lang="en-US" sz="3200" b="0" i="0" dirty="0">
                <a:solidFill>
                  <a:srgbClr val="1F1F1F"/>
                </a:solidFill>
                <a:effectLst/>
              </a:rPr>
            </a:br>
            <a:endParaRPr lang="en-IN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1200"/>
            <a:ext cx="3200400" cy="638630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000000"/>
                </a:solidFill>
              </a:rPr>
              <a:t>Conclusion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5582"/>
            <a:ext cx="9629775" cy="460138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/>
              <a:t>The project effectively demonstrated how AI can turn text descriptions into visuals, showcasing its ability to understand and interpret language visually.</a:t>
            </a: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/>
              <a:t>Using Stable Diffusion, we generated high-quality and detailed images from simple text prompts, confirming the model’s reliability for visual content creation.</a:t>
            </a: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/>
              <a:t>This technology empowers users—regardless of design experience—to easily produce visuals, greatly expanding creative possibilities.</a:t>
            </a: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/>
              <a:t>It highlights valuable use cases in fields such as content creation, graphic design, and education, where quick visual generation is beneficial.</a:t>
            </a: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/>
              <a:t>Overall, the project shows how AI can support and enhance creativity by bridging the gap between words and visuals in a user-friendly and efficient way.</a:t>
            </a: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71750" y="409575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/>
              <a:t>Bowen Li, </a:t>
            </a:r>
            <a:r>
              <a:rPr lang="en-IN" sz="2000" dirty="0" err="1"/>
              <a:t>Xiaojuan</a:t>
            </a:r>
            <a:r>
              <a:rPr lang="en-IN" sz="2000" dirty="0"/>
              <a:t> Qi, Thomas </a:t>
            </a:r>
            <a:r>
              <a:rPr lang="en-IN" sz="2000" dirty="0" err="1"/>
              <a:t>Lukasiewicz</a:t>
            </a:r>
            <a:r>
              <a:rPr lang="en-IN" sz="2000" dirty="0"/>
              <a:t>, Philip H. S. </a:t>
            </a:r>
            <a:r>
              <a:rPr lang="en-IN" sz="2000" dirty="0" err="1"/>
              <a:t>Torr</a:t>
            </a:r>
            <a:r>
              <a:rPr lang="en-IN" sz="2000" dirty="0"/>
              <a:t> </a:t>
            </a:r>
            <a:r>
              <a:rPr lang="en-US" sz="2000" dirty="0"/>
              <a:t>“ </a:t>
            </a:r>
            <a:r>
              <a:rPr lang="en-IN" sz="2000" dirty="0"/>
              <a:t>Controllable Text-to-Image Generation</a:t>
            </a:r>
            <a:r>
              <a:rPr lang="en-US" sz="2000" dirty="0"/>
              <a:t>" </a:t>
            </a:r>
            <a:r>
              <a:rPr lang="en-IN" sz="2000" dirty="0"/>
              <a:t>University of Oxford.</a:t>
            </a:r>
            <a:endParaRPr lang="en-US" sz="2000" dirty="0"/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Ashly Correya, Amrutha N</a:t>
            </a:r>
            <a:r>
              <a:rPr lang="en-US" sz="2000" dirty="0"/>
              <a:t> "</a:t>
            </a:r>
            <a:r>
              <a:rPr lang="en-IN" sz="2000" dirty="0"/>
              <a:t>Text to Image Conversion using Stable Diffusion </a:t>
            </a:r>
            <a:r>
              <a:rPr lang="en-US" sz="2000" dirty="0"/>
              <a:t>" Indian Journal of Data Mining (IJDM).</a:t>
            </a: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800" dirty="0"/>
              <a:t>Conference paper- </a:t>
            </a:r>
            <a:r>
              <a:rPr lang="en-US" sz="1800" dirty="0">
                <a:cs typeface="Times New Roman" panose="02020603050405020304" pitchFamily="18" charset="0"/>
              </a:rPr>
              <a:t>Controllable Text-to-Image Generation</a:t>
            </a:r>
            <a:endParaRPr lang="en-US" sz="1800" dirty="0"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1800" dirty="0">
                <a:cs typeface="Times New Roman" panose="02020603050405020304" pitchFamily="18" charset="0"/>
              </a:rPr>
              <a:t>   </a:t>
            </a:r>
            <a:r>
              <a:rPr lang="en-US" sz="1800" dirty="0"/>
              <a:t>Bowen Li, </a:t>
            </a:r>
            <a:r>
              <a:rPr lang="en-US" sz="1800" dirty="0" err="1"/>
              <a:t>Xiaojuan</a:t>
            </a:r>
            <a:r>
              <a:rPr lang="en-US" sz="1800" dirty="0"/>
              <a:t> Qi, Thomas Lukasiewicz, Philip H. S. Torr University of Oxford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71750" y="411012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275" y="282257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Questions Please ???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sz="7300" dirty="0"/>
              <a:t>THANK- YOU</a:t>
            </a:r>
            <a:endParaRPr lang="en-US" sz="73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Text to Image Conversion Using Stable Diffusion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371750" y="412599"/>
            <a:ext cx="1781650" cy="870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HD-Custom1">
      <a:majorFont>
        <a:latin typeface="Georgia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8563</Words>
  <Application>WPS Slides</Application>
  <PresentationFormat>Widescreen</PresentationFormat>
  <Paragraphs>298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Arial Narrow</vt:lpstr>
      <vt:lpstr>Bookman Old Style</vt:lpstr>
      <vt:lpstr>Times New Roman</vt:lpstr>
      <vt:lpstr>Bookman Old Style</vt:lpstr>
      <vt:lpstr>Georgia</vt:lpstr>
      <vt:lpstr>Microsoft YaHei</vt:lpstr>
      <vt:lpstr>Arial Unicode MS</vt:lpstr>
      <vt:lpstr>Calibri</vt:lpstr>
      <vt:lpstr>Georgia</vt:lpstr>
      <vt:lpstr>Wingdings</vt:lpstr>
      <vt:lpstr>Office Theme</vt:lpstr>
      <vt:lpstr>PowerPoint 演示文稿</vt:lpstr>
      <vt:lpstr>Outline</vt:lpstr>
      <vt:lpstr>Introduction</vt:lpstr>
      <vt:lpstr>Motivation</vt:lpstr>
      <vt:lpstr> Literature Survey </vt:lpstr>
      <vt:lpstr> Aim and Objective </vt:lpstr>
      <vt:lpstr> Aim and Objective </vt:lpstr>
      <vt:lpstr>Methodology </vt:lpstr>
      <vt:lpstr>Models used</vt:lpstr>
      <vt:lpstr>Different Phases of Implementation</vt:lpstr>
      <vt:lpstr>Implementation</vt:lpstr>
      <vt:lpstr>Results</vt:lpstr>
      <vt:lpstr>Working with Stable Diffusion parameters </vt:lpstr>
      <vt:lpstr>Conclusion </vt:lpstr>
      <vt:lpstr>References</vt:lpstr>
      <vt:lpstr>Questions Please ???   THANK-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Prajwal Rahate</cp:lastModifiedBy>
  <cp:revision>288</cp:revision>
  <cp:lastPrinted>2018-07-12T01:20:00Z</cp:lastPrinted>
  <dcterms:created xsi:type="dcterms:W3CDTF">2017-08-14T16:57:00Z</dcterms:created>
  <dcterms:modified xsi:type="dcterms:W3CDTF">2025-04-23T15:21:49Z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A3481BC749494DB4B1D9B01E5D8B42A2_12</vt:lpwstr>
  </property>
  <property fmtid="{D5CDD505-2E9C-101B-9397-08002B2CF9AE}" pid="3" name="KSOProductBuildVer">
    <vt:lpwstr>1033-12.2.0.20795</vt:lpwstr>
  </property>
</Properties>
</file>